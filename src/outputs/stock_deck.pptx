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Stock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6E0"/>
                </a:solidFill>
              </a:rPr>
              <a:t>ATL → ATH Journey  ·  10 Tickers  ·  10-Year Daily Bars (Split-Adjusted)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611880"/>
            <a:ext cx="39593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6E0"/>
                </a:solidFill>
              </a:rPr>
              <a:t>Source: Yahoo Finance  ·  Not investment advice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" y="4754880"/>
            <a:ext cx="914400" cy="4114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47548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AAPL</a:t>
            </a:r>
          </a:p>
        </p:txBody>
      </p:sp>
      <p:sp>
        <p:nvSpPr>
          <p:cNvPr id="9" name="Rectangle 8"/>
          <p:cNvSpPr/>
          <p:nvPr/>
        </p:nvSpPr>
        <p:spPr>
          <a:xfrm>
            <a:off x="1956816" y="4754880"/>
            <a:ext cx="914400" cy="4114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56816" y="47548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TSLA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08376" y="4754880"/>
            <a:ext cx="914400" cy="4114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8376" y="47548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MSFT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59936" y="4754880"/>
            <a:ext cx="914400" cy="4114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59936" y="47548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NVDA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1496" y="4754880"/>
            <a:ext cx="914400" cy="4114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1496" y="47548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AMZN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4754880"/>
            <a:ext cx="914400" cy="4114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47548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META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14616" y="4754880"/>
            <a:ext cx="914400" cy="4114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14616" y="47548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GOOGL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66176" y="4754880"/>
            <a:ext cx="914400" cy="4114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47548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SPY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17736" y="4754880"/>
            <a:ext cx="914400" cy="4114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17736" y="47548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COIN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69296" y="4754880"/>
            <a:ext cx="914400" cy="4114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69296" y="47548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AMD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Overview — All Tickers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91440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86968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Ticker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822960"/>
            <a:ext cx="109728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886968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ATL Price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822960"/>
            <a:ext cx="118872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886968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ATL 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822960"/>
            <a:ext cx="109728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886968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ATH Price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822960"/>
            <a:ext cx="118872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886968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ATH 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822960"/>
            <a:ext cx="73152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88696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822960"/>
            <a:ext cx="146304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88696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Speed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822960"/>
            <a:ext cx="137160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88696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Risk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298448"/>
            <a:ext cx="91440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371600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AAPL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1298448"/>
            <a:ext cx="109728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1371600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$22.37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1298448"/>
            <a:ext cx="118872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137160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2016-05-12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1298448"/>
            <a:ext cx="109728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1371600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$288.62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1298448"/>
            <a:ext cx="118872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137160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2025-12-03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1298448"/>
            <a:ext cx="73152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1371600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3492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1298448"/>
            <a:ext cx="146304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137160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Steady Climber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80" y="1298448"/>
            <a:ext cx="137160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1371600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D66A"/>
                </a:solidFill>
              </a:rPr>
              <a:t>Conservative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1773936"/>
            <a:ext cx="9144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1847088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TSLA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8720" y="1773936"/>
            <a:ext cx="10972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4440" y="1847088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$11.80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1773936"/>
            <a:ext cx="11887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31720" y="1847088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2019-06-03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1773936"/>
            <a:ext cx="10972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20440" y="1847088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$498.83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1773936"/>
            <a:ext cx="11887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17720" y="1847088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2025-12-22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60720" y="1773936"/>
            <a:ext cx="7315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06440" y="184708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2394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1773936"/>
            <a:ext cx="146304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184708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Rocket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80" y="1773936"/>
            <a:ext cx="13716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01000" y="184708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2D55"/>
                </a:solidFill>
              </a:rPr>
              <a:t>Speculative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2249424"/>
            <a:ext cx="91440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040" y="2322576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MSFT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88720" y="2249424"/>
            <a:ext cx="109728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34440" y="2322576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$48.04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0" y="2249424"/>
            <a:ext cx="118872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31720" y="2322576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2016-06-27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74720" y="2249424"/>
            <a:ext cx="109728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20440" y="2322576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$555.45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2249424"/>
            <a:ext cx="118872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17720" y="2322576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2025-07-31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60720" y="2249424"/>
            <a:ext cx="73152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06440" y="2322576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3321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92240" y="2249424"/>
            <a:ext cx="146304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37960" y="2322576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Steady Climber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955280" y="2249424"/>
            <a:ext cx="137160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01000" y="2322576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D66A"/>
                </a:solidFill>
              </a:rPr>
              <a:t>Conservative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2724912"/>
            <a:ext cx="9144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2798064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NVDA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88720" y="2724912"/>
            <a:ext cx="10972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34440" y="2798064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$0.86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0" y="2724912"/>
            <a:ext cx="11887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331720" y="2798064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2016-05-04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474720" y="2724912"/>
            <a:ext cx="10972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520440" y="2798064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$212.19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0" y="2724912"/>
            <a:ext cx="11887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17720" y="2798064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2025-10-29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760720" y="2724912"/>
            <a:ext cx="7315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806440" y="2798064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3465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92240" y="2724912"/>
            <a:ext cx="146304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37960" y="2798064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Rocket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955280" y="2724912"/>
            <a:ext cx="13716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01000" y="2798064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2D55"/>
                </a:solidFill>
              </a:rPr>
              <a:t>Speculative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3200400"/>
            <a:ext cx="91440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20040" y="3273552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AMZN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88720" y="3200400"/>
            <a:ext cx="109728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234440" y="3273552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$29.96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0" y="3200400"/>
            <a:ext cx="118872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331720" y="327355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2016-04-28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474720" y="3200400"/>
            <a:ext cx="109728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520440" y="3273552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$258.60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0" y="3200400"/>
            <a:ext cx="118872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617720" y="327355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2025-11-03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760720" y="3200400"/>
            <a:ext cx="73152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806440" y="3273552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3476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92240" y="3200400"/>
            <a:ext cx="146304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37960" y="3273552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Steady Climber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955280" y="3200400"/>
            <a:ext cx="137160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001000" y="3273552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D66A"/>
                </a:solidFill>
              </a:rPr>
              <a:t>Conservative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4320" y="3675888"/>
            <a:ext cx="9144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0040" y="3749040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META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188720" y="3675888"/>
            <a:ext cx="10972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234440" y="3749040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$88.09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286000" y="3675888"/>
            <a:ext cx="11887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331720" y="374904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2022-11-04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474720" y="3675888"/>
            <a:ext cx="10972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520440" y="3749040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$796.25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572000" y="3675888"/>
            <a:ext cx="11887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617720" y="374904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2025-08-15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760720" y="3675888"/>
            <a:ext cx="7315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806440" y="3749040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1015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492240" y="3675888"/>
            <a:ext cx="146304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537960" y="374904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Rocket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955280" y="3675888"/>
            <a:ext cx="13716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001000" y="3749040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</a:rPr>
              <a:t>Aggressive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74320" y="4151376"/>
            <a:ext cx="91440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20040" y="4224528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GOOGL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188720" y="4151376"/>
            <a:ext cx="109728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234440" y="4224528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$33.63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286000" y="4151376"/>
            <a:ext cx="118872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331720" y="4224528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2016-06-27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74720" y="4151376"/>
            <a:ext cx="109728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520440" y="4224528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$349.00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572000" y="4151376"/>
            <a:ext cx="118872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617720" y="4224528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2026-02-03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760720" y="4151376"/>
            <a:ext cx="73152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806440" y="422452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3508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492240" y="4151376"/>
            <a:ext cx="146304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537960" y="422452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Steady Climber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955280" y="4151376"/>
            <a:ext cx="137160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001000" y="422452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D66A"/>
                </a:solidFill>
              </a:rPr>
              <a:t>Conservative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74320" y="4626864"/>
            <a:ext cx="9144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20040" y="4700016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SPY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188720" y="4626864"/>
            <a:ext cx="10972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234440" y="4700016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$198.65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286000" y="4626864"/>
            <a:ext cx="11887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331720" y="4700016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2016-06-27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474720" y="4626864"/>
            <a:ext cx="10972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520440" y="4700016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$697.84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572000" y="4626864"/>
            <a:ext cx="11887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617720" y="4700016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2026-01-28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760720" y="4626864"/>
            <a:ext cx="7315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806440" y="4700016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3502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492240" y="4626864"/>
            <a:ext cx="146304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537960" y="4700016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Steady Climber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955280" y="4626864"/>
            <a:ext cx="13716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001000" y="4700016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D66A"/>
                </a:solidFill>
              </a:rPr>
              <a:t>Conservative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74320" y="5102352"/>
            <a:ext cx="91440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20040" y="5175504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COIN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188720" y="5102352"/>
            <a:ext cx="109728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234440" y="5175504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$31.55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286000" y="5102352"/>
            <a:ext cx="118872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331720" y="5175504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2023-01-06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474720" y="5102352"/>
            <a:ext cx="109728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520440" y="5175504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$444.65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572000" y="5102352"/>
            <a:ext cx="118872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617720" y="5175504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2025-07-18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5760720" y="5102352"/>
            <a:ext cx="73152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806440" y="5175504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924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492240" y="5102352"/>
            <a:ext cx="146304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537960" y="5175504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Rocket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955280" y="5102352"/>
            <a:ext cx="1371600" cy="475488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001000" y="5175504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2D55"/>
                </a:solidFill>
              </a:rPr>
              <a:t>Speculative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74320" y="5577840"/>
            <a:ext cx="9144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20040" y="5650992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AMD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188720" y="5577840"/>
            <a:ext cx="10972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234440" y="5650992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$2.60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286000" y="5577840"/>
            <a:ext cx="11887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2331720" y="565099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2016-04-21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3474720" y="5577840"/>
            <a:ext cx="10972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520440" y="5650992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$267.08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572000" y="5577840"/>
            <a:ext cx="11887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617720" y="565099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2025-10-29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5760720" y="5577840"/>
            <a:ext cx="7315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806440" y="5650992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3478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492240" y="5577840"/>
            <a:ext cx="146304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537960" y="5650992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Fast Mover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955280" y="5577840"/>
            <a:ext cx="13716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8001000" y="5650992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</a:rPr>
              <a:t>Aggressive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Price Multiplier: ATH ÷ ATL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(how many times higher was the ATH vs ATL)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SPY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1097280"/>
            <a:ext cx="145812" cy="384048"/>
          </a:xfrm>
          <a:prstGeom prst="rect">
            <a:avLst/>
          </a:prstGeom>
          <a:solidFill>
            <a:srgbClr val="06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82004" y="114300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3.5×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3677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AMZN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1591056"/>
            <a:ext cx="358273" cy="384048"/>
          </a:xfrm>
          <a:prstGeom prst="rect">
            <a:avLst/>
          </a:prstGeom>
          <a:solidFill>
            <a:srgbClr val="06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465" y="163677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8.6×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13055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META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084832"/>
            <a:ext cx="375189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11381" y="213055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9.0×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62432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GOOGL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2578608"/>
            <a:ext cx="430751" cy="384048"/>
          </a:xfrm>
          <a:prstGeom prst="rect">
            <a:avLst/>
          </a:prstGeom>
          <a:solidFill>
            <a:srgbClr val="06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6943" y="262432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10.4×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11810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MSFT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3072384"/>
            <a:ext cx="479920" cy="384048"/>
          </a:xfrm>
          <a:prstGeom prst="rect">
            <a:avLst/>
          </a:prstGeom>
          <a:solidFill>
            <a:srgbClr val="06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6112" y="311810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11.6×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61188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AAPL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3566160"/>
            <a:ext cx="535535" cy="384048"/>
          </a:xfrm>
          <a:prstGeom prst="rect">
            <a:avLst/>
          </a:prstGeom>
          <a:solidFill>
            <a:srgbClr val="06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71727" y="361188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12.9×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10565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COIN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4059936"/>
            <a:ext cx="584987" cy="384048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21179" y="410565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14.1×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59943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TSLA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4553712"/>
            <a:ext cx="1754681" cy="384048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0873" y="459943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42.3×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509320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AMD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40" y="5047488"/>
            <a:ext cx="4263789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99981" y="509320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102.7×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558698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NVDA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5541264"/>
            <a:ext cx="10241280" cy="384048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777472" y="558698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246.7×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Days from ATL to 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(fewer days = faster journey to all-time high)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COIN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1097280"/>
            <a:ext cx="2697532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33724" y="11430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924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3677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META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1591056"/>
            <a:ext cx="2963198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9390" y="163677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1,015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13055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TSLA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084832"/>
            <a:ext cx="698906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5252" y="213055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2,394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62432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MSFT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2578608"/>
            <a:ext cx="969535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31542" y="262432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3,321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11810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NVDA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3072384"/>
            <a:ext cx="10115745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51937" y="311810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3,465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61188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AMZN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3566160"/>
            <a:ext cx="10147858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684050" y="361188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3,476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10565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AMD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4059936"/>
            <a:ext cx="10153697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89889" y="410565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3,478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59943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AAPL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4553712"/>
            <a:ext cx="10194569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30761" y="45994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3,492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509320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SPY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40" y="5047488"/>
            <a:ext cx="10223763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59955" y="509320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3,502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558698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GOOGL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5541264"/>
            <a:ext cx="1024128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777472" y="558698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3,508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Risk Profile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5196" y="1005840"/>
            <a:ext cx="2560320" cy="20116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196" y="1005840"/>
            <a:ext cx="2560320" cy="109728"/>
          </a:xfrm>
          <a:prstGeom prst="rect">
            <a:avLst/>
          </a:prstGeom>
          <a:solidFill>
            <a:srgbClr val="06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5196" y="11887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6D66A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" y="2011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Conservative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AAPL  MSFT  AMZN  GOOGL  SPY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1276" y="1005840"/>
            <a:ext cx="2560320" cy="20116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1276" y="1005840"/>
            <a:ext cx="2560320" cy="10972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1276" y="11887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D166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1276" y="2011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Moderate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2716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7356" y="1005840"/>
            <a:ext cx="2560320" cy="20116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7356" y="1005840"/>
            <a:ext cx="2560320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7356" y="11887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7356" y="2011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Aggressive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META  AMD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3436" y="1005840"/>
            <a:ext cx="2560320" cy="20116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03436" y="1005840"/>
            <a:ext cx="2560320" cy="109728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3436" y="11887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2D55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3436" y="2011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Speculative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4876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TSLA  NVDA  COIN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Ticker Risk Labels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" y="3703320"/>
            <a:ext cx="1005840" cy="6400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796" y="3703320"/>
            <a:ext cx="1005840" cy="54864"/>
          </a:xfrm>
          <a:prstGeom prst="rect">
            <a:avLst/>
          </a:prstGeom>
          <a:solidFill>
            <a:srgbClr val="06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" y="37490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AAPL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" y="40416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6E0"/>
                </a:solidFill>
              </a:rPr>
              <a:t>Conservative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1076" y="3703320"/>
            <a:ext cx="1005840" cy="6400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51076" y="3703320"/>
            <a:ext cx="1005840" cy="54864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51076" y="37490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TSLA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51076" y="40416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6E0"/>
                </a:solidFill>
              </a:rPr>
              <a:t>Speculative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8356" y="3703320"/>
            <a:ext cx="1005840" cy="6400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8356" y="3703320"/>
            <a:ext cx="1005840" cy="54864"/>
          </a:xfrm>
          <a:prstGeom prst="rect">
            <a:avLst/>
          </a:prstGeom>
          <a:solidFill>
            <a:srgbClr val="06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48356" y="37490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MSFT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48356" y="40416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6E0"/>
                </a:solidFill>
              </a:rPr>
              <a:t>Conservative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45636" y="3703320"/>
            <a:ext cx="1005840" cy="6400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45636" y="3703320"/>
            <a:ext cx="1005840" cy="54864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45636" y="37490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NVDA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45636" y="40416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6E0"/>
                </a:solidFill>
              </a:rPr>
              <a:t>Speculative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42916" y="3703320"/>
            <a:ext cx="1005840" cy="6400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42916" y="3703320"/>
            <a:ext cx="1005840" cy="54864"/>
          </a:xfrm>
          <a:prstGeom prst="rect">
            <a:avLst/>
          </a:prstGeom>
          <a:solidFill>
            <a:srgbClr val="06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42916" y="37490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AMZN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42916" y="40416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6E0"/>
                </a:solidFill>
              </a:rPr>
              <a:t>Conservative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40196" y="3703320"/>
            <a:ext cx="1005840" cy="6400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40196" y="3703320"/>
            <a:ext cx="100584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40196" y="37490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META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40196" y="40416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6E0"/>
                </a:solidFill>
              </a:rPr>
              <a:t>Aggressive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37476" y="3703320"/>
            <a:ext cx="1005840" cy="6400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237476" y="3703320"/>
            <a:ext cx="1005840" cy="54864"/>
          </a:xfrm>
          <a:prstGeom prst="rect">
            <a:avLst/>
          </a:prstGeom>
          <a:solidFill>
            <a:srgbClr val="06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37476" y="37490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GOOGL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37476" y="40416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6E0"/>
                </a:solidFill>
              </a:rPr>
              <a:t>Conservative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34756" y="3703320"/>
            <a:ext cx="1005840" cy="6400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34756" y="3703320"/>
            <a:ext cx="1005840" cy="54864"/>
          </a:xfrm>
          <a:prstGeom prst="rect">
            <a:avLst/>
          </a:prstGeom>
          <a:solidFill>
            <a:srgbClr val="06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34756" y="37490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SPY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4756" y="40416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6E0"/>
                </a:solidFill>
              </a:rPr>
              <a:t>Conservative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32036" y="3703320"/>
            <a:ext cx="1005840" cy="6400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32036" y="3703320"/>
            <a:ext cx="1005840" cy="54864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32036" y="37490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COIN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32036" y="40416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6E0"/>
                </a:solidFill>
              </a:rPr>
              <a:t>Speculative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529316" y="3703320"/>
            <a:ext cx="1005840" cy="64008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529316" y="3703320"/>
            <a:ext cx="100584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29316" y="37490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AMD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29316" y="40416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6E0"/>
                </a:solidFill>
              </a:rPr>
              <a:t>Aggressive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Speed Classification (CAGR-Based)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Based on annualized return (CAGR) from ATL to 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3657600" cy="502920"/>
          </a:xfrm>
          <a:prstGeom prst="rect">
            <a:avLst/>
          </a:prstGeom>
          <a:solidFill>
            <a:srgbClr val="06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Steady Climber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00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D6E0"/>
                </a:solidFill>
              </a:rPr>
              <a:t>CAGR &lt; 35%/yr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11680"/>
            <a:ext cx="3657600" cy="96012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011680"/>
            <a:ext cx="54864" cy="960120"/>
          </a:xfrm>
          <a:prstGeom prst="rect">
            <a:avLst/>
          </a:prstGeom>
          <a:solidFill>
            <a:srgbClr val="06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06654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6A"/>
                </a:solidFill>
              </a:rPr>
              <a:t>AAPL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505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CAGR: 30.6%  ·  12.9×  ·  3,492d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700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6A"/>
                </a:solidFill>
              </a:rPr>
              <a:t>Conservative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90672"/>
            <a:ext cx="3657600" cy="96012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090672"/>
            <a:ext cx="54864" cy="960120"/>
          </a:xfrm>
          <a:prstGeom prst="rect">
            <a:avLst/>
          </a:prstGeom>
          <a:solidFill>
            <a:srgbClr val="06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14553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6A"/>
                </a:solidFill>
              </a:rPr>
              <a:t>MSFT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5295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CAGR: 30.9%  ·  11.6×  ·  3,321d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7490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6A"/>
                </a:solidFill>
              </a:rPr>
              <a:t>Conservative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69664"/>
            <a:ext cx="3657600" cy="96012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169664"/>
            <a:ext cx="54864" cy="960120"/>
          </a:xfrm>
          <a:prstGeom prst="rect">
            <a:avLst/>
          </a:prstGeom>
          <a:solidFill>
            <a:srgbClr val="06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22452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6A"/>
                </a:solidFill>
              </a:rPr>
              <a:t>AMZN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60857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CAGR: 25.4%  ·  8.6×  ·  3,476d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280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6A"/>
                </a:solidFill>
              </a:rPr>
              <a:t>Conservative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248656"/>
            <a:ext cx="3657600" cy="96012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248656"/>
            <a:ext cx="54864" cy="960120"/>
          </a:xfrm>
          <a:prstGeom prst="rect">
            <a:avLst/>
          </a:prstGeom>
          <a:solidFill>
            <a:srgbClr val="06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30352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6A"/>
                </a:solidFill>
              </a:rPr>
              <a:t>GOOGL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6875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CAGR: 27.6%  ·  10.4×  ·  3,508d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90702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6A"/>
                </a:solidFill>
              </a:rPr>
              <a:t>Conservative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6327648"/>
            <a:ext cx="3657600" cy="96012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6327648"/>
            <a:ext cx="54864" cy="960120"/>
          </a:xfrm>
          <a:prstGeom prst="rect">
            <a:avLst/>
          </a:prstGeom>
          <a:solidFill>
            <a:srgbClr val="06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38251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6A"/>
                </a:solidFill>
              </a:rPr>
              <a:t>SPY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766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CAGR: 14.0%  ·  3.5×  ·  3,502d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98601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6A"/>
                </a:solidFill>
              </a:rPr>
              <a:t>Conservative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1051560"/>
            <a:ext cx="3657600" cy="5029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51960" y="1097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Fast Mover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1600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D6E0"/>
                </a:solidFill>
              </a:rPr>
              <a:t>CAGR 35–70%/yr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1960" y="2011680"/>
            <a:ext cx="3657600" cy="96012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51960" y="2011680"/>
            <a:ext cx="54864" cy="9601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206654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</a:rPr>
              <a:t>AMD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24505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CAGR: 62.6%  ·  102.7×  ·  3,478d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26700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6B35"/>
                </a:solidFill>
              </a:rPr>
              <a:t>Aggressive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1051560"/>
            <a:ext cx="3657600" cy="50292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1097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Rocket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1600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D6E0"/>
                </a:solidFill>
              </a:rPr>
              <a:t>CAGR &gt; 70%/yr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2011680"/>
            <a:ext cx="3657600" cy="96012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29600" y="2011680"/>
            <a:ext cx="54864" cy="96012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60" y="206654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2D55"/>
                </a:solidFill>
              </a:rPr>
              <a:t>TSLA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24505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CAGR: 77.0%  ·  42.3×  ·  2,394d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26700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2D55"/>
                </a:solidFill>
              </a:rPr>
              <a:t>Speculative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3090672"/>
            <a:ext cx="3657600" cy="96012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29600" y="3090672"/>
            <a:ext cx="54864" cy="96012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314553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2D55"/>
                </a:solidFill>
              </a:rPr>
              <a:t>NVDA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35295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CAGR: 78.6%  ·  246.7×  ·  3,465d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37490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2D55"/>
                </a:solidFill>
              </a:rPr>
              <a:t>Speculative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4169664"/>
            <a:ext cx="3657600" cy="96012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29600" y="4169664"/>
            <a:ext cx="54864" cy="96012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66760" y="422452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2D55"/>
                </a:solidFill>
              </a:rPr>
              <a:t>META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460857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CAGR: 120.7%  ·  9.0×  ·  1,015d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48280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6B35"/>
                </a:solidFill>
              </a:rPr>
              <a:t>Aggressive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0" y="5248656"/>
            <a:ext cx="3657600" cy="96012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29600" y="5248656"/>
            <a:ext cx="54864" cy="96012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66760" y="530352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2D55"/>
                </a:solidFill>
              </a:rPr>
              <a:t>COIN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66760" y="56875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CAGR: 184.4%  ·  14.1×  ·  924d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66760" y="590702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2D55"/>
                </a:solidFill>
              </a:rPr>
              <a:t>Speculative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AAPL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D66A"/>
                </a:solidFill>
              </a:rPr>
              <a:t>Steady Climber  ·  Conservative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ATL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$22.37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2016-05-12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ATH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$288.62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2025-12-03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Multiplier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12.9×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CAGR 30.6%/yr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3,492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ATL → ATH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175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520440"/>
            <a:ext cx="11338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AAPL: move from ATL to ATH is ~12.9x over 3492 days (Steady Climber). ATH 2025-12-03 vs ATL 2016-05-12. Figures from Yahoo daily bars (split-adjusted); not investment advice.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TSLA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2D55"/>
                </a:solidFill>
              </a:rPr>
              <a:t>Rocket  ·  Speculative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ATL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$11.80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2019-06-03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ATH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$498.83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2025-12-22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Multiplier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42.3×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CAGR 77.0%/yr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2,394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ATL → ATH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175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520440"/>
            <a:ext cx="11338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TSLA: move from ATL to ATH is ~42.3x over 2394 days (Rocket). ATH 2025-12-22 vs ATL 2019-06-03. Figures from Yahoo daily bars (split-adjusted); not investment advice.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MSFT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D66A"/>
                </a:solidFill>
              </a:rPr>
              <a:t>Steady Climber  ·  Conservative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ATL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$48.04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2016-06-27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ATH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$555.45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2025-07-31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Multiplier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11.6×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CAGR 30.9%/yr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3,321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ATL → ATH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175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520440"/>
            <a:ext cx="11338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MSFT: move from ATL to ATH is ~11.6x over 3321 days (Steady Climber). ATH 2025-07-31 vs ATL 2016-06-27. Figures from Yahoo daily bars (split-adjusted); not investment advice.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NVDA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2D55"/>
                </a:solidFill>
              </a:rPr>
              <a:t>Rocket  ·  Speculative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ATL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$0.86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2016-05-04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ATH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$212.19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2025-10-29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Multiplier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246.7×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CAGR 78.6%/yr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3,465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ATL → ATH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175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520440"/>
            <a:ext cx="11338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NVDA: move from ATL to ATH is ~246.7x over 3465 days (Rocket). ATH 2025-10-29 vs ATL 2016-05-04. Figures from Yahoo daily bars (split-adjusted); not investment advice.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AMZN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D66A"/>
                </a:solidFill>
              </a:rPr>
              <a:t>Steady Climber  ·  Conservative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ATL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$29.96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2016-04-28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ATH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$258.60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2025-11-03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Multiplier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8.6×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CAGR 25.4%/yr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3,476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ATL → ATH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175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520440"/>
            <a:ext cx="11338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AMZN: move from ATL to ATH is ~8.6x over 3476 days (Steady Climber). ATH 2025-11-03 vs ATL 2016-04-28. Figures from Yahoo daily bars (split-adjusted); not investment advice.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META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6B35"/>
                </a:solidFill>
              </a:rPr>
              <a:t>Rocket  ·  Aggressive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ATL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$88.09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2022-11-04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ATH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$796.25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2025-08-15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Multiplier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9.0×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CAGR 120.7%/yr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1,015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ATL → ATH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175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520440"/>
            <a:ext cx="11338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META: move from ATL to ATH is ~9.0x over 1015 days (Rocket). ATH 2025-08-15 vs ATL 2022-11-04. Figures from Yahoo daily bars (split-adjusted); not investment advice.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GOOGL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D66A"/>
                </a:solidFill>
              </a:rPr>
              <a:t>Steady Climber  ·  Conservative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ATL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$33.63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2016-06-27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ATH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$349.00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2026-02-03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Multiplier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10.4×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CAGR 27.6%/yr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3,508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ATL → ATH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175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520440"/>
            <a:ext cx="11338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GOOGL: move from ATL to ATH is ~10.4x over 3508 days (Steady Climber). ATH 2026-02-03 vs ATL 2016-06-27. Figures from Yahoo daily bars (split-adjusted); not investment advice.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SPY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D66A"/>
                </a:solidFill>
              </a:rPr>
              <a:t>Steady Climber  ·  Conservative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ATL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$198.65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2016-06-27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ATH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$697.84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2026-01-28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Multiplier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3.5×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CAGR 14.0%/yr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3,502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ATL → ATH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175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520440"/>
            <a:ext cx="11338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SPY: move from ATL to ATH is ~3.5x over 3502 days (Steady Climber). ATH 2026-01-28 vs ATL 2016-06-27. Figures from Yahoo daily bars (split-adjusted); not investment advice.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2D55"/>
                </a:solidFill>
              </a:rPr>
              <a:t>Rocket  ·  Speculative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ATL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$31.55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2023-01-06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ATH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$444.65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2025-07-18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Multiplier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14.1×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CAGR 184.4%/yr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924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ATL → ATH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175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520440"/>
            <a:ext cx="11338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COIN: move from ATL to ATH is ~14.1x over 924 days (Rocket). ATH 2025-07-18 vs ATL 2023-01-06. Figures from Yahoo daily bars (split-adjusted); not investment advice.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AMD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6B35"/>
                </a:solidFill>
              </a:rPr>
              <a:t>Fast Mover  ·  Aggressive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ATL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$2.60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2016-04-21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ATH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$267.08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2025-10-29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Multiplier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102.7×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CAGR 62.6%/yr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463040"/>
            <a:ext cx="2651760" cy="137160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4630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18470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3,478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ATL → ATH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175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520440"/>
            <a:ext cx="11338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AMD: move from ATL to ATH is ~102.7x over 3478 days (Fast Mover). ATH 2025-10-29 vs ATL 2016-04-21. Figures from Yahoo daily bars (split-adjusted); not investment advice.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07040" cy="713232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73152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NVDA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389888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246.7× gain — most extreme multiplier in the dataset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21408"/>
            <a:ext cx="10607040" cy="713232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21408"/>
            <a:ext cx="73152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1284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META &amp; COIN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231136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Fastest journeys: &lt; 1,100 days from ATL to ATH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62656"/>
            <a:ext cx="10607040" cy="713232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62656"/>
            <a:ext cx="73152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5409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072384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Most conservative: 3.5× over 9.6 years — steady 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03904"/>
            <a:ext cx="10607040" cy="713232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803904"/>
            <a:ext cx="73152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895344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TSLA &amp; NVDA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91363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Rockets with &gt;3,000 days still qualify — multiplier dominates speed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645152"/>
            <a:ext cx="10607040" cy="713232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645152"/>
            <a:ext cx="73152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73659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Algorithm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75488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Current: CAGR-only. Recommended upgrade: CAGR + Max Drawdown + Sharpe (3-factor composite)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D6E0"/>
                </a:solidFill>
              </a:rPr>
              <a:t>Source: Yahoo Finance  ·  Not investment advice  ·  Data as of report 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